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8" r:id="rId14"/>
    <p:sldId id="267" r:id="rId15"/>
    <p:sldId id="268" r:id="rId16"/>
    <p:sldId id="279" r:id="rId17"/>
    <p:sldId id="269" r:id="rId18"/>
    <p:sldId id="280" r:id="rId19"/>
    <p:sldId id="270" r:id="rId20"/>
    <p:sldId id="271" r:id="rId21"/>
    <p:sldId id="272" r:id="rId22"/>
    <p:sldId id="273" r:id="rId23"/>
    <p:sldId id="274" r:id="rId24"/>
    <p:sldId id="275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34BD4-E673-44C6-B136-A469C2E5C1A4}" v="4" dt="2026-05-13T00:25:29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Castro Puello" userId="ec842c6e-8750-4283-a166-cbd0e2f1a265" providerId="ADAL" clId="{87F1051F-D40B-4E8D-903C-A75807638063}"/>
    <pc:docChg chg="undo custSel addSld delSld modSld">
      <pc:chgData name="Eduardo Castro Puello" userId="ec842c6e-8750-4283-a166-cbd0e2f1a265" providerId="ADAL" clId="{87F1051F-D40B-4E8D-903C-A75807638063}" dt="2026-05-13T00:25:29.542" v="119"/>
      <pc:docMkLst>
        <pc:docMk/>
      </pc:docMkLst>
      <pc:sldChg chg="modSp mod">
        <pc:chgData name="Eduardo Castro Puello" userId="ec842c6e-8750-4283-a166-cbd0e2f1a265" providerId="ADAL" clId="{87F1051F-D40B-4E8D-903C-A75807638063}" dt="2026-05-09T04:55:36.978" v="29" actId="20577"/>
        <pc:sldMkLst>
          <pc:docMk/>
          <pc:sldMk cId="0" sldId="256"/>
        </pc:sldMkLst>
        <pc:spChg chg="mod">
          <ac:chgData name="Eduardo Castro Puello" userId="ec842c6e-8750-4283-a166-cbd0e2f1a265" providerId="ADAL" clId="{87F1051F-D40B-4E8D-903C-A75807638063}" dt="2026-05-09T04:55:36.978" v="29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Eduardo Castro Puello" userId="ec842c6e-8750-4283-a166-cbd0e2f1a265" providerId="ADAL" clId="{87F1051F-D40B-4E8D-903C-A75807638063}" dt="2026-05-09T04:57:11.435" v="32" actId="20577"/>
        <pc:sldMkLst>
          <pc:docMk/>
          <pc:sldMk cId="0" sldId="258"/>
        </pc:sldMkLst>
        <pc:spChg chg="mod">
          <ac:chgData name="Eduardo Castro Puello" userId="ec842c6e-8750-4283-a166-cbd0e2f1a265" providerId="ADAL" clId="{87F1051F-D40B-4E8D-903C-A75807638063}" dt="2026-05-09T04:57:11.435" v="32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Eduardo Castro Puello" userId="ec842c6e-8750-4283-a166-cbd0e2f1a265" providerId="ADAL" clId="{87F1051F-D40B-4E8D-903C-A75807638063}" dt="2026-05-09T04:59:10.936" v="33" actId="1076"/>
        <pc:sldMkLst>
          <pc:docMk/>
          <pc:sldMk cId="0" sldId="262"/>
        </pc:sldMkLst>
        <pc:spChg chg="mod">
          <ac:chgData name="Eduardo Castro Puello" userId="ec842c6e-8750-4283-a166-cbd0e2f1a265" providerId="ADAL" clId="{87F1051F-D40B-4E8D-903C-A75807638063}" dt="2026-05-09T04:59:10.936" v="33" actId="1076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Eduardo Castro Puello" userId="ec842c6e-8750-4283-a166-cbd0e2f1a265" providerId="ADAL" clId="{87F1051F-D40B-4E8D-903C-A75807638063}" dt="2026-05-09T05:00:37.045" v="37"/>
        <pc:sldMkLst>
          <pc:docMk/>
          <pc:sldMk cId="0" sldId="265"/>
        </pc:sldMkLst>
        <pc:spChg chg="mod">
          <ac:chgData name="Eduardo Castro Puello" userId="ec842c6e-8750-4283-a166-cbd0e2f1a265" providerId="ADAL" clId="{87F1051F-D40B-4E8D-903C-A75807638063}" dt="2026-05-09T05:00:37.045" v="37"/>
          <ac:spMkLst>
            <pc:docMk/>
            <pc:sldMk cId="0" sldId="265"/>
            <ac:spMk id="6" creationId="{00000000-0000-0000-0000-000000000000}"/>
          </ac:spMkLst>
        </pc:spChg>
      </pc:sldChg>
      <pc:sldChg chg="delSp mod">
        <pc:chgData name="Eduardo Castro Puello" userId="ec842c6e-8750-4283-a166-cbd0e2f1a265" providerId="ADAL" clId="{87F1051F-D40B-4E8D-903C-A75807638063}" dt="2026-05-12T23:46:36.722" v="98" actId="478"/>
        <pc:sldMkLst>
          <pc:docMk/>
          <pc:sldMk cId="0" sldId="267"/>
        </pc:sldMkLst>
        <pc:picChg chg="del">
          <ac:chgData name="Eduardo Castro Puello" userId="ec842c6e-8750-4283-a166-cbd0e2f1a265" providerId="ADAL" clId="{87F1051F-D40B-4E8D-903C-A75807638063}" dt="2026-05-12T23:46:36.722" v="98" actId="478"/>
          <ac:picMkLst>
            <pc:docMk/>
            <pc:sldMk cId="0" sldId="267"/>
            <ac:picMk id="9" creationId="{00000000-0000-0000-0000-000000000000}"/>
          </ac:picMkLst>
        </pc:picChg>
      </pc:sldChg>
      <pc:sldChg chg="delSp mod">
        <pc:chgData name="Eduardo Castro Puello" userId="ec842c6e-8750-4283-a166-cbd0e2f1a265" providerId="ADAL" clId="{87F1051F-D40B-4E8D-903C-A75807638063}" dt="2026-05-12T23:47:19.263" v="102" actId="478"/>
        <pc:sldMkLst>
          <pc:docMk/>
          <pc:sldMk cId="0" sldId="269"/>
        </pc:sldMkLst>
        <pc:picChg chg="del">
          <ac:chgData name="Eduardo Castro Puello" userId="ec842c6e-8750-4283-a166-cbd0e2f1a265" providerId="ADAL" clId="{87F1051F-D40B-4E8D-903C-A75807638063}" dt="2026-05-12T23:47:19.263" v="102" actId="478"/>
          <ac:picMkLst>
            <pc:docMk/>
            <pc:sldMk cId="0" sldId="269"/>
            <ac:picMk id="9" creationId="{00000000-0000-0000-0000-000000000000}"/>
          </ac:picMkLst>
        </pc:picChg>
      </pc:sldChg>
      <pc:sldChg chg="delSp mod">
        <pc:chgData name="Eduardo Castro Puello" userId="ec842c6e-8750-4283-a166-cbd0e2f1a265" providerId="ADAL" clId="{87F1051F-D40B-4E8D-903C-A75807638063}" dt="2026-05-12T23:48:26.644" v="116" actId="478"/>
        <pc:sldMkLst>
          <pc:docMk/>
          <pc:sldMk cId="0" sldId="270"/>
        </pc:sldMkLst>
        <pc:picChg chg="del">
          <ac:chgData name="Eduardo Castro Puello" userId="ec842c6e-8750-4283-a166-cbd0e2f1a265" providerId="ADAL" clId="{87F1051F-D40B-4E8D-903C-A75807638063}" dt="2026-05-12T23:48:26.644" v="116" actId="478"/>
          <ac:picMkLst>
            <pc:docMk/>
            <pc:sldMk cId="0" sldId="270"/>
            <ac:picMk id="9" creationId="{00000000-0000-0000-0000-000000000000}"/>
          </ac:picMkLst>
        </pc:picChg>
      </pc:sldChg>
      <pc:sldChg chg="modSp">
        <pc:chgData name="Eduardo Castro Puello" userId="ec842c6e-8750-4283-a166-cbd0e2f1a265" providerId="ADAL" clId="{87F1051F-D40B-4E8D-903C-A75807638063}" dt="2026-05-09T05:00:37.045" v="37"/>
        <pc:sldMkLst>
          <pc:docMk/>
          <pc:sldMk cId="0" sldId="271"/>
        </pc:sldMkLst>
        <pc:spChg chg="mod">
          <ac:chgData name="Eduardo Castro Puello" userId="ec842c6e-8750-4283-a166-cbd0e2f1a265" providerId="ADAL" clId="{87F1051F-D40B-4E8D-903C-A75807638063}" dt="2026-05-09T05:00:37.045" v="37"/>
          <ac:spMkLst>
            <pc:docMk/>
            <pc:sldMk cId="0" sldId="271"/>
            <ac:spMk id="6" creationId="{00000000-0000-0000-0000-000000000000}"/>
          </ac:spMkLst>
        </pc:spChg>
        <pc:spChg chg="mod">
          <ac:chgData name="Eduardo Castro Puello" userId="ec842c6e-8750-4283-a166-cbd0e2f1a265" providerId="ADAL" clId="{87F1051F-D40B-4E8D-903C-A75807638063}" dt="2026-05-09T05:00:37.045" v="37"/>
          <ac:spMkLst>
            <pc:docMk/>
            <pc:sldMk cId="0" sldId="271"/>
            <ac:spMk id="8" creationId="{00000000-0000-0000-0000-000000000000}"/>
          </ac:spMkLst>
        </pc:spChg>
        <pc:spChg chg="mod">
          <ac:chgData name="Eduardo Castro Puello" userId="ec842c6e-8750-4283-a166-cbd0e2f1a265" providerId="ADAL" clId="{87F1051F-D40B-4E8D-903C-A75807638063}" dt="2026-05-09T05:00:37.045" v="37"/>
          <ac:spMkLst>
            <pc:docMk/>
            <pc:sldMk cId="0" sldId="271"/>
            <ac:spMk id="10" creationId="{00000000-0000-0000-0000-000000000000}"/>
          </ac:spMkLst>
        </pc:spChg>
        <pc:spChg chg="mod">
          <ac:chgData name="Eduardo Castro Puello" userId="ec842c6e-8750-4283-a166-cbd0e2f1a265" providerId="ADAL" clId="{87F1051F-D40B-4E8D-903C-A75807638063}" dt="2026-05-09T05:00:37.045" v="37"/>
          <ac:spMkLst>
            <pc:docMk/>
            <pc:sldMk cId="0" sldId="271"/>
            <ac:spMk id="12" creationId="{00000000-0000-0000-0000-000000000000}"/>
          </ac:spMkLst>
        </pc:spChg>
      </pc:sldChg>
      <pc:sldChg chg="modSp mod">
        <pc:chgData name="Eduardo Castro Puello" userId="ec842c6e-8750-4283-a166-cbd0e2f1a265" providerId="ADAL" clId="{87F1051F-D40B-4E8D-903C-A75807638063}" dt="2026-05-13T00:25:29.542" v="119"/>
        <pc:sldMkLst>
          <pc:docMk/>
          <pc:sldMk cId="0" sldId="272"/>
        </pc:sldMkLst>
        <pc:spChg chg="mod">
          <ac:chgData name="Eduardo Castro Puello" userId="ec842c6e-8750-4283-a166-cbd0e2f1a265" providerId="ADAL" clId="{87F1051F-D40B-4E8D-903C-A75807638063}" dt="2026-05-13T00:25:29.542" v="119"/>
          <ac:spMkLst>
            <pc:docMk/>
            <pc:sldMk cId="0" sldId="272"/>
            <ac:spMk id="6" creationId="{00000000-0000-0000-0000-000000000000}"/>
          </ac:spMkLst>
        </pc:spChg>
      </pc:sldChg>
      <pc:sldChg chg="modSp mod">
        <pc:chgData name="Eduardo Castro Puello" userId="ec842c6e-8750-4283-a166-cbd0e2f1a265" providerId="ADAL" clId="{87F1051F-D40B-4E8D-903C-A75807638063}" dt="2026-05-09T05:10:15.446" v="80" actId="6549"/>
        <pc:sldMkLst>
          <pc:docMk/>
          <pc:sldMk cId="0" sldId="273"/>
        </pc:sldMkLst>
        <pc:spChg chg="mod">
          <ac:chgData name="Eduardo Castro Puello" userId="ec842c6e-8750-4283-a166-cbd0e2f1a265" providerId="ADAL" clId="{87F1051F-D40B-4E8D-903C-A75807638063}" dt="2026-05-09T05:09:39.144" v="79" actId="20577"/>
          <ac:spMkLst>
            <pc:docMk/>
            <pc:sldMk cId="0" sldId="273"/>
            <ac:spMk id="6" creationId="{00000000-0000-0000-0000-000000000000}"/>
          </ac:spMkLst>
        </pc:spChg>
        <pc:spChg chg="mod">
          <ac:chgData name="Eduardo Castro Puello" userId="ec842c6e-8750-4283-a166-cbd0e2f1a265" providerId="ADAL" clId="{87F1051F-D40B-4E8D-903C-A75807638063}" dt="2026-05-09T05:10:15.446" v="80" actId="6549"/>
          <ac:spMkLst>
            <pc:docMk/>
            <pc:sldMk cId="0" sldId="273"/>
            <ac:spMk id="7" creationId="{00000000-0000-0000-0000-000000000000}"/>
          </ac:spMkLst>
        </pc:spChg>
      </pc:sldChg>
      <pc:sldChg chg="new del">
        <pc:chgData name="Eduardo Castro Puello" userId="ec842c6e-8750-4283-a166-cbd0e2f1a265" providerId="ADAL" clId="{87F1051F-D40B-4E8D-903C-A75807638063}" dt="2026-05-12T23:45:15.804" v="82" actId="47"/>
        <pc:sldMkLst>
          <pc:docMk/>
          <pc:sldMk cId="5392581" sldId="278"/>
        </pc:sldMkLst>
      </pc:sldChg>
      <pc:sldChg chg="delSp modSp add mod setBg">
        <pc:chgData name="Eduardo Castro Puello" userId="ec842c6e-8750-4283-a166-cbd0e2f1a265" providerId="ADAL" clId="{87F1051F-D40B-4E8D-903C-A75807638063}" dt="2026-05-12T23:46:26.886" v="97" actId="6549"/>
        <pc:sldMkLst>
          <pc:docMk/>
          <pc:sldMk cId="3508732299" sldId="278"/>
        </pc:sldMkLst>
        <pc:spChg chg="mod">
          <ac:chgData name="Eduardo Castro Puello" userId="ec842c6e-8750-4283-a166-cbd0e2f1a265" providerId="ADAL" clId="{87F1051F-D40B-4E8D-903C-A75807638063}" dt="2026-05-12T23:46:26.886" v="97" actId="6549"/>
          <ac:spMkLst>
            <pc:docMk/>
            <pc:sldMk cId="3508732299" sldId="278"/>
            <ac:spMk id="7" creationId="{89973864-C9E9-0DC6-57CC-A5984405BB8A}"/>
          </ac:spMkLst>
        </pc:spChg>
        <pc:graphicFrameChg chg="del">
          <ac:chgData name="Eduardo Castro Puello" userId="ec842c6e-8750-4283-a166-cbd0e2f1a265" providerId="ADAL" clId="{87F1051F-D40B-4E8D-903C-A75807638063}" dt="2026-05-12T23:45:28.699" v="84" actId="478"/>
          <ac:graphicFrameMkLst>
            <pc:docMk/>
            <pc:sldMk cId="3508732299" sldId="278"/>
            <ac:graphicFrameMk id="6" creationId="{12404401-B38A-1160-B510-7CD702563ED5}"/>
          </ac:graphicFrameMkLst>
        </pc:graphicFrameChg>
        <pc:picChg chg="mod">
          <ac:chgData name="Eduardo Castro Puello" userId="ec842c6e-8750-4283-a166-cbd0e2f1a265" providerId="ADAL" clId="{87F1051F-D40B-4E8D-903C-A75807638063}" dt="2026-05-12T23:46:11.789" v="96" actId="1076"/>
          <ac:picMkLst>
            <pc:docMk/>
            <pc:sldMk cId="3508732299" sldId="278"/>
            <ac:picMk id="9" creationId="{6E3B0BDF-5EDE-19F4-BEC4-97DE3D2A97D4}"/>
          </ac:picMkLst>
        </pc:picChg>
      </pc:sldChg>
      <pc:sldChg chg="delSp modSp add mod setBg">
        <pc:chgData name="Eduardo Castro Puello" userId="ec842c6e-8750-4283-a166-cbd0e2f1a265" providerId="ADAL" clId="{87F1051F-D40B-4E8D-903C-A75807638063}" dt="2026-05-12T23:47:01.509" v="101" actId="1076"/>
        <pc:sldMkLst>
          <pc:docMk/>
          <pc:sldMk cId="92007546" sldId="279"/>
        </pc:sldMkLst>
        <pc:graphicFrameChg chg="del">
          <ac:chgData name="Eduardo Castro Puello" userId="ec842c6e-8750-4283-a166-cbd0e2f1a265" providerId="ADAL" clId="{87F1051F-D40B-4E8D-903C-A75807638063}" dt="2026-05-12T23:46:57.611" v="100" actId="478"/>
          <ac:graphicFrameMkLst>
            <pc:docMk/>
            <pc:sldMk cId="92007546" sldId="279"/>
            <ac:graphicFrameMk id="6" creationId="{C3181FDA-4C32-A464-941E-C71C914D6C4D}"/>
          </ac:graphicFrameMkLst>
        </pc:graphicFrameChg>
        <pc:picChg chg="mod">
          <ac:chgData name="Eduardo Castro Puello" userId="ec842c6e-8750-4283-a166-cbd0e2f1a265" providerId="ADAL" clId="{87F1051F-D40B-4E8D-903C-A75807638063}" dt="2026-05-12T23:47:01.509" v="101" actId="1076"/>
          <ac:picMkLst>
            <pc:docMk/>
            <pc:sldMk cId="92007546" sldId="279"/>
            <ac:picMk id="9" creationId="{A72BDBA8-96B3-14C6-EA57-3EF715F06D05}"/>
          </ac:picMkLst>
        </pc:picChg>
      </pc:sldChg>
      <pc:sldChg chg="delSp modSp add mod setBg">
        <pc:chgData name="Eduardo Castro Puello" userId="ec842c6e-8750-4283-a166-cbd0e2f1a265" providerId="ADAL" clId="{87F1051F-D40B-4E8D-903C-A75807638063}" dt="2026-05-12T23:48:16.917" v="115" actId="14100"/>
        <pc:sldMkLst>
          <pc:docMk/>
          <pc:sldMk cId="2473312611" sldId="280"/>
        </pc:sldMkLst>
        <pc:spChg chg="mod">
          <ac:chgData name="Eduardo Castro Puello" userId="ec842c6e-8750-4283-a166-cbd0e2f1a265" providerId="ADAL" clId="{87F1051F-D40B-4E8D-903C-A75807638063}" dt="2026-05-12T23:48:03.999" v="111" actId="1076"/>
          <ac:spMkLst>
            <pc:docMk/>
            <pc:sldMk cId="2473312611" sldId="280"/>
            <ac:spMk id="7" creationId="{91C034B0-120D-EEC4-CE85-F2269C4D6C4F}"/>
          </ac:spMkLst>
        </pc:spChg>
        <pc:graphicFrameChg chg="del">
          <ac:chgData name="Eduardo Castro Puello" userId="ec842c6e-8750-4283-a166-cbd0e2f1a265" providerId="ADAL" clId="{87F1051F-D40B-4E8D-903C-A75807638063}" dt="2026-05-12T23:47:35.743" v="104" actId="478"/>
          <ac:graphicFrameMkLst>
            <pc:docMk/>
            <pc:sldMk cId="2473312611" sldId="280"/>
            <ac:graphicFrameMk id="6" creationId="{D4A54B65-A69F-B157-AC54-6E0905F11B10}"/>
          </ac:graphicFrameMkLst>
        </pc:graphicFrameChg>
        <pc:picChg chg="mod">
          <ac:chgData name="Eduardo Castro Puello" userId="ec842c6e-8750-4283-a166-cbd0e2f1a265" providerId="ADAL" clId="{87F1051F-D40B-4E8D-903C-A75807638063}" dt="2026-05-12T23:48:16.917" v="115" actId="14100"/>
          <ac:picMkLst>
            <pc:docMk/>
            <pc:sldMk cId="2473312611" sldId="280"/>
            <ac:picMk id="9" creationId="{7E913A8D-C6DA-2001-9728-EBAA2A154B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957972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Small Language Model</a:t>
            </a:r>
            <a:br/>
            <a:r>
              <a:t>Jailbreak Defender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9900"/>
                </a:solidFill>
              </a:defRPr>
            </a:pPr>
            <a:r>
              <a:t>Dissertation Proposal
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Eduardo Alberto Castro Puello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097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rPr lang="en-US" dirty="0"/>
              <a:t>Ph.D. Candidate </a:t>
            </a:r>
            <a:r>
              <a:rPr dirty="0"/>
              <a:t>in Computer Science</a:t>
            </a:r>
            <a:br>
              <a:rPr dirty="0"/>
            </a:br>
            <a:r>
              <a:rPr dirty="0"/>
              <a:t>College of Computing, AI and Cybersecurity</a:t>
            </a:r>
            <a:br>
              <a:rPr dirty="0"/>
            </a:br>
            <a:r>
              <a:rPr dirty="0"/>
              <a:t>Nova Southeastern University</a:t>
            </a:r>
            <a:br>
              <a:rPr dirty="0"/>
            </a:br>
            <a:r>
              <a:rPr dirty="0"/>
              <a:t>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3A5C"/>
                </a:solidFill>
              </a:defRPr>
            </a:pPr>
            <a:r>
              <a:t>Dissertation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Committee Chair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Dr. Wei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Committee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61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Dr. Lingwei Wang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Committee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Dr. Abhinav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634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Committee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95604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Dr. Yohannes G. Mulissa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College of Computing, AI and Cybersecurity</a:t>
            </a:r>
            <a:br/>
            <a:r>
              <a:t>Nova Southeastern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Background &amp; Problem Statement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Research Questions &amp; Goals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Literature Review: Jailbreak Attacks &amp; Defenses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Proposed Framework Architecture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Methodology &amp; Mathematical Formalization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Proof-of-Concept: JavaScript QA Domain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Preliminary Results: FT vs OOB Performance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Jailbreak Attack Success Rates (ASR)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Published Work: IEEE SoutheastCon 2026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Next Steps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124712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Large Language Models (LLMs) have enabled significant advances in NLP and are increasingly integrated into enterprise systems, developer tooling, and automated decision-support.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Small Language Models (SLMs, 1B–7B parameters) are favored for edge and enterprise deployment due to lower cost and latency.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SLMs typically exhibit weaker safety alignment and are more susceptible to adversarial prompting and jailbreak attacks.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Fine-tuning can rapidly erode refusal behavior</a:t>
            </a:r>
            <a:r>
              <a:rPr lang="en-US" dirty="0"/>
              <a:t>;</a:t>
            </a:r>
            <a:r>
              <a:rPr dirty="0"/>
              <a:t> as few as 10 harmful examples can compromise safety (Qi et al., 2023).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Current point solutions often overcorrect and degrade downstream task utility.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SLMs are increasingly deployed in high-stakes settings yet remain disproportionately vulnerable to jailbreaks and fine-tuning-induced safety collapse.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What is missing: a principled, empirically grounded framework for securing fine-tuned SLMs that simultaneously (1) resists adversarial prompt and fine-tuning attacks, (2) preserves domain task accuracy, and (3) maintains latency-efficient inference.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Shallow alignment strategies based on direct refusal mechanisms provide insufficient protection against sophisticated attacks.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Parameter-efficient fine-tuning (e.g., LoRA) can measurably alter a model's safety posture.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Research Questions &amp; Dissertation Goal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Goal: Design, implement, and evaluate a modular security alignment framework that enables SLMs to approach LLM-level safety robustness against jailbreak and adversarial fine-tuning attacks.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RQ1 – Framework Effectiveness: Can a modular guardrail framework combining multi-LLM dataset auditing, adversarial artifact conditioning, and multi-step input/output intent judging enable fine-tuned SLMs (&lt;7B) to achieve LLM-level robustness?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RQ2 – Safety–Utility Tradeoff: To what extent can the framework reduce ASR and unsafe compliance while maintaining domain task accuracy and minimizing over-refusal?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RQ3 – Alignment Persistence: Will SLMs trained using judge-in-the-loop dataset refinement demonstrate increased robustness against fine-tuning-based safety collapse?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RQ4 – Latency &amp; Resource Efficiency: Can safety improvements be realized without significantly increasing inference latency or computational footprint?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Literature Review: Taxonomy of Jailbreak Attacks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pic>
        <p:nvPicPr>
          <p:cNvPr id="6" name="Picture 5" descr="img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298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White-box: Gradient-Based (GCG, AutoDAN, PGD), Logits-based, Fine-tuning-based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Black-box: Template Completion, Prompt Reviewing, LLM-Based Generation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Focus of this work: Gradient-Based, Logits-Based, and Fine-Tuning-Based attacks and their defenses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</a:defRPr>
            </a:pPr>
            <a:r>
              <a:t>Source: Yi et al.,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Literature Review: Jailbreak Defense Methods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pic>
        <p:nvPicPr>
          <p:cNvPr id="6" name="Picture 5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78547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1359568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Prompt-Level: Detection, Perturbation, System Prompt Safeguards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Model-Level: Supervised Fine-Tuning (SFT), RLHF, Gradient/Logit Analysis, Refinement, Proxy Defense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Our approach combines: Prompt-level guardrail wrapper + Model-level secure fine-tuning with LLM-judge dataset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</a:defRPr>
            </a:pPr>
            <a:r>
              <a:t>Source: Yi et al.,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Proposed Framework: Part 1 – SLM Guardrail Wrapper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pic>
        <p:nvPicPr>
          <p:cNvPr id="6" name="Picture 5" descr="img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388973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User Interface Layer: entry point for natural language queries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Guardrail Wrapper (SLM-based): dual-stage analysis</a:t>
            </a:r>
            <a:br/>
            <a:r>
              <a:t>   – Input Analysis: intercepts and analyzes user query</a:t>
            </a:r>
            <a:br/>
            <a:r>
              <a:t>   – Output Evaluation: inspects and labels model response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Task-Specialized Fine-Tuned SLM: primary model kept as black box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Non-intrusive: Task SLM remains untouched (compatible with closed-source models)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Layered evaluation mitigates both prompt injection and response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</a:defRPr>
            </a:pPr>
            <a:r>
              <a:t>Castro et al.,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Proposed Framework: Part 2 – LLM Judge Dataset Refinement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pic>
        <p:nvPicPr>
          <p:cNvPr id="6" name="Picture 5" descr="img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3737507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2801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Step 1: Dataset Creation &amp; Multi-LLM Audit Pipeline</a:t>
            </a:r>
            <a:br/>
            <a:r>
              <a:t>   – Three LLMs (GPT-4, Claude, Gemini) independently review training data</a:t>
            </a:r>
            <a:br/>
            <a:r>
              <a:t>   – Final dataset = intersection of samples approved by all auditors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Step 2: Secure Fine-Tuning with LoRA</a:t>
            </a:r>
            <a:br/>
            <a:r>
              <a:t>   – Parameter-efficient fine-tuning preserving base capabilities</a:t>
            </a:r>
            <a:br/>
            <a:r>
              <a:t>   – Instruction tuning with safe prompts/responses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Step 3: Post-Fine-Tuning Toxicity Token Extraction (AutoDAN)</a:t>
            </a:r>
            <a:br/>
            <a:r>
              <a:t>   – Extract adversarial token sequences ("toxic tokens")</a:t>
            </a:r>
            <a:br/>
            <a:r>
              <a:t>   – Augment training data with discovered attack vectors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Iterative Process: Repeat until convergence (target score or max iterations)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</a:defRPr>
            </a:pPr>
            <a:r>
              <a:t>Castro et al.,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Methodology: Mathematical Formalization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124712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LoRA</a:t>
            </a:r>
            <a:r>
              <a:rPr dirty="0"/>
              <a:t> Parameterization: Low-rank additive perturbation ΔW = BA (rank r=16, α=32)</a:t>
            </a:r>
            <a:r>
              <a:rPr lang="en-US" dirty="0"/>
              <a:t>;</a:t>
            </a:r>
            <a:r>
              <a:rPr dirty="0"/>
              <a:t> drastically reduces trainable parameters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Training Objective: Cross-entropy loss (next-token prediction) with security-constrained dataset composition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Security Constraints: (1) Task Fidelity</a:t>
            </a:r>
            <a:r>
              <a:rPr lang="en-US" dirty="0"/>
              <a:t>;</a:t>
            </a:r>
            <a:r>
              <a:rPr dirty="0"/>
              <a:t> correct in-domain answers, (2) Jailbreak Resistance</a:t>
            </a:r>
            <a:r>
              <a:rPr lang="en-US" dirty="0"/>
              <a:t>;</a:t>
            </a:r>
            <a:r>
              <a:rPr dirty="0"/>
              <a:t> refusal for out-of-scope, (3) Format Compliance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Bilevel Optimization: Outer loop (dataset refinement via GPT-judge) + Inner loop (</a:t>
            </a:r>
            <a:r>
              <a:rPr dirty="0" err="1"/>
              <a:t>LoRA</a:t>
            </a:r>
            <a:r>
              <a:rPr dirty="0"/>
              <a:t> training for fixed dataset)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GPT-Judge Scoring: External LLM evaluates correctness, format, and security</a:t>
            </a:r>
            <a:r>
              <a:rPr lang="en-US" dirty="0"/>
              <a:t>;</a:t>
            </a:r>
            <a:r>
              <a:rPr dirty="0"/>
              <a:t> drives iterative dataset transformation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• Convergence: Target score reached, max iterations (10), or no errors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Proof-of-Concept: JavaScript QA Domain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Domain: JavaScript Library Q&amp;A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Compute: Azure ML, Standard_NC96ads_A100_v4</a:t>
            </a:r>
            <a:br/>
            <a:r>
              <a:t>(96 cores, 880 GB RAM, NVIDIA A100)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Fine-Tuning: LoRA with NF4 quantization (QLoRA)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Dataset: GPT-judge curated + AutoDAN toxic tokens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Evaluation: 499 test cases (72 refusal + 427 in-domain)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Gemma 2B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TinyLlama 1.1B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DeepSeek R1 Distill 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Distilled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Phi-3 Mini 4K 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Instruct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Qwen 1.5 0.5B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5 Model Pairs: Fine-Tuned (FT) vs Out-of-Box (OOB)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9ECDE-E1A3-E35E-4E21-7F3D9A91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5738AB-061B-115A-3BD8-348726C18F8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08B32E-4F74-3787-7091-CA349075272C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96A5A-F226-3222-439F-F378C49EC11C}"/>
              </a:ext>
            </a:extLst>
          </p:cNvPr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Results: FT vs OOB Performance (All Models)</a:t>
            </a:r>
          </a:p>
        </p:txBody>
      </p:sp>
      <p:pic>
        <p:nvPicPr>
          <p:cNvPr id="5" name="Picture 4" descr="img_s0_6.png">
            <a:extLst>
              <a:ext uri="{FF2B5EF4-FFF2-40B4-BE49-F238E27FC236}">
                <a16:creationId xmlns:a16="http://schemas.microsoft.com/office/drawing/2014/main" id="{E85A7170-F999-A306-3631-39B07897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73864-C9E9-0DC6-57CC-A5984405BB8A}"/>
              </a:ext>
            </a:extLst>
          </p:cNvPr>
          <p:cNvSpPr txBox="1"/>
          <p:nvPr/>
        </p:nvSpPr>
        <p:spPr>
          <a:xfrm>
            <a:off x="274320" y="5669280"/>
            <a:ext cx="11612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dirty="0"/>
              <a:t>Key Finding: All FT models dramatically outperform OOB baselines. Phi-3 Mini achieves highest overall FT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66145-F697-19BD-D47F-F54F4D8811B3}"/>
              </a:ext>
            </a:extLst>
          </p:cNvPr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12/20</a:t>
            </a:r>
          </a:p>
        </p:txBody>
      </p:sp>
      <p:pic>
        <p:nvPicPr>
          <p:cNvPr id="9" name="Picture 8" descr="slide12_accuracy_ft_vs_oob.png">
            <a:extLst>
              <a:ext uri="{FF2B5EF4-FFF2-40B4-BE49-F238E27FC236}">
                <a16:creationId xmlns:a16="http://schemas.microsoft.com/office/drawing/2014/main" id="{6E3B0BDF-5EDE-19F4-BEC4-97DE3D2A9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88" y="1615804"/>
            <a:ext cx="7364167" cy="373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3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Results: FT vs OOB Performance (All Models)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Pair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Gemma 2B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0.6232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0.9838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0.5691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0.7211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0.3609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0.7568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0.2485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0.6327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0.2904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0.3981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−0.5106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0.1452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TinyLlama 1.1B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0.7034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0.6534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0.7904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0.4624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0.8267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0.2084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0.5909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0.2436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0.3449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−0.5563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0.1218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DeepSeek 1.5B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0.7515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0.7096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0.8301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0.5106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0.8548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0.0822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0.3628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0.0960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0.1519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−0.7589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0.0480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Phi-3 Mini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0.8096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0.7775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0.8748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0.5790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0.8888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0.3287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0.6949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0.3841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0.4947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−0.4335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0.1920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Qwen 1.5 0.5B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0.7976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0.7635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0.8659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0.5637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0.8817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0.1182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0.4504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0.1382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0.2115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−0.6882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0.0691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6692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Key Finding: Fine-tuning achieves perfect precision (1.0) on 4 of 5 models. All FT models dramatically outperform OOB baselines. Phi-3 Mini achieves highest overall FT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Key Findings: Per-Model Analysis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Gemma 2B: OOB fails to refuse any out-of-scope queries (TN=0). FT improves refusal (TN=68, FP=4). Accuracy +37.5%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TinyLlama 1.1B: OOB worse than random (MCC=−0.56). FT achieves perfect refusal (TN=72, FP=0). Largest MCC improvement: +1.02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DeepSeek 1.5B: Strongest OOB anti-correlation (MCC=−0.76). FT transforms near-total failure to strong performance. ROC-AUC +0.81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Phi-3 Mini: Best OOB baseline but still fails all refusals. FT yields highest accuracy (0.81) and recall (0.78) among all models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Qwen 1.5 0.5B: Despite being smallest (0.5B), achieves second-best FT accuracy (0.80). Perfect precision (1.0). MCC improvement: +1.25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7DCDD-8AF3-A1C0-1470-36C8A71C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B362F2-294A-121C-9992-F9BAA6395B3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5B7C5-2335-2F4C-E78B-84B5A428F799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42CE9-3136-53D5-523A-1B5B44F2AE75}"/>
              </a:ext>
            </a:extLst>
          </p:cNvPr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Jailbreak Attack Success Rate: Black-Box Attacks</a:t>
            </a:r>
          </a:p>
        </p:txBody>
      </p:sp>
      <p:pic>
        <p:nvPicPr>
          <p:cNvPr id="5" name="Picture 4" descr="img_s0_6.png">
            <a:extLst>
              <a:ext uri="{FF2B5EF4-FFF2-40B4-BE49-F238E27FC236}">
                <a16:creationId xmlns:a16="http://schemas.microsoft.com/office/drawing/2014/main" id="{707FC9BE-3527-5743-1C77-F0BC3BF7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85B7F-4C76-6D92-688B-057133147A05}"/>
              </a:ext>
            </a:extLst>
          </p:cNvPr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Key: Fine-tuned models achieve near-zero ASR on Direct Request attacks. Even PAP-Top5 (strongest black-box attack) drops to &lt;10.5% on FT models vs up to 41% on OOB.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67170-3873-4270-9913-51A15325C832}"/>
              </a:ext>
            </a:extLst>
          </p:cNvPr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14/20</a:t>
            </a:r>
          </a:p>
        </p:txBody>
      </p:sp>
      <p:pic>
        <p:nvPicPr>
          <p:cNvPr id="9" name="Picture 8" descr="slide14_blackbox_asr_ft_vs_oob.png">
            <a:extLst>
              <a:ext uri="{FF2B5EF4-FFF2-40B4-BE49-F238E27FC236}">
                <a16:creationId xmlns:a16="http://schemas.microsoft.com/office/drawing/2014/main" id="{A72BDBA8-96B3-14C6-EA57-3EF715F06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73" y="1060704"/>
            <a:ext cx="896112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Jailbreak Attack Success Rate: Black-Box Attacks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Direct Req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Direct Req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Human JB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Human JB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PAP-Top5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PAP-Top5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Gemma 2B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TinyLlama 1.1B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67.5%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DeepSeek 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Phi-3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Qwen 1.5 0.5B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Key: Fine-tuned models achieve near-zero ASR on Direct Request attacks. Even PAP-Top5 (strongest black-box attack) drops to &lt;10.5% on FT models vs up to 41% on OOB.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FFAC-B907-E019-1A99-4C4A7290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7061CD-089B-7A11-F5AC-BAF10EC55C9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62D4B-F73F-6B5B-E693-3274A7A5097C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8DFF2-8F28-0E5B-5AEB-8166DD4F6260}"/>
              </a:ext>
            </a:extLst>
          </p:cNvPr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Jailbreak Attack Success Rate: White-Box Attacks</a:t>
            </a:r>
          </a:p>
        </p:txBody>
      </p:sp>
      <p:pic>
        <p:nvPicPr>
          <p:cNvPr id="5" name="Picture 4" descr="img_s0_6.png">
            <a:extLst>
              <a:ext uri="{FF2B5EF4-FFF2-40B4-BE49-F238E27FC236}">
                <a16:creationId xmlns:a16="http://schemas.microsoft.com/office/drawing/2014/main" id="{EC4BF7DA-B8BA-0BB4-426E-3F258A356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034B0-120D-EEC4-CE85-F2269C4D6C4F}"/>
              </a:ext>
            </a:extLst>
          </p:cNvPr>
          <p:cNvSpPr txBox="1"/>
          <p:nvPr/>
        </p:nvSpPr>
        <p:spPr>
          <a:xfrm>
            <a:off x="197967" y="5875020"/>
            <a:ext cx="1179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dirty="0"/>
              <a:t>Key: Phi-3 FT achieves 0% ASR across ALL white-box attacks. GCG (strongest) drops from 60% to 0% on Gemma and Phi-3. Fine-tuning provides robust defense even against gradient-based attacks.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4F671-C7E7-1826-9025-F07BF9D898BA}"/>
              </a:ext>
            </a:extLst>
          </p:cNvPr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15/20</a:t>
            </a:r>
          </a:p>
        </p:txBody>
      </p:sp>
      <p:pic>
        <p:nvPicPr>
          <p:cNvPr id="9" name="Picture 8" descr="slide15_whitebox_asr_ft_vs_oob.png">
            <a:extLst>
              <a:ext uri="{FF2B5EF4-FFF2-40B4-BE49-F238E27FC236}">
                <a16:creationId xmlns:a16="http://schemas.microsoft.com/office/drawing/2014/main" id="{7E913A8D-C6DA-2001-9728-EBAA2A154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465" y="1027819"/>
            <a:ext cx="7809088" cy="482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12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Jailbreak Attack Success Rate: White-Box Attacks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073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AutoDAN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AutoDAN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GCG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GCG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AutoPrompt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AutoPrompt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PEZ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PEZ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UAT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UAT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GBDA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OOB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GBDA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Gemma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TinyLlama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Phi-3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Qwen 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4572000"/>
            <a:ext cx="1179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Key: Phi-3 FT achieves 0% ASR across ALL white-box attacks. GCG (strongest) drops from 60% to 0% on Gemma and Phi-3. Fine-tuning provides robust defense even against gradient-based attacks.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Confusion Matrices: OOB vs FT (Selected Models)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C0000"/>
                </a:solidFill>
              </a:defRPr>
            </a:pPr>
            <a:r>
              <a:rPr dirty="0" err="1"/>
              <a:t>TinyLlama</a:t>
            </a:r>
            <a:r>
              <a:rPr dirty="0"/>
              <a:t> 1.1B</a:t>
            </a:r>
            <a:r>
              <a:rPr lang="en-US" dirty="0"/>
              <a:t>;</a:t>
            </a:r>
            <a:r>
              <a:rPr dirty="0"/>
              <a:t> OOB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Refused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Answer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TN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FP = 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FN = 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TP = 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0" y="11887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rPr dirty="0" err="1"/>
              <a:t>TinyLlama</a:t>
            </a:r>
            <a:r>
              <a:rPr dirty="0"/>
              <a:t> 1.1B</a:t>
            </a:r>
            <a:r>
              <a:rPr lang="en-US" dirty="0"/>
              <a:t>;</a:t>
            </a:r>
            <a:r>
              <a:rPr dirty="0"/>
              <a:t> FT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0" y="164592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Refused</a:t>
                      </a: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Answer</a:t>
                      </a: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TN = 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FP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FN = 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TP = 279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747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C0000"/>
                </a:solidFill>
              </a:defRPr>
            </a:pPr>
            <a:r>
              <a:rPr dirty="0"/>
              <a:t>Phi-3 Mini</a:t>
            </a:r>
            <a:r>
              <a:rPr lang="en-US" dirty="0"/>
              <a:t>;</a:t>
            </a:r>
            <a:r>
              <a:rPr dirty="0"/>
              <a:t> OOB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93192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Refused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Answer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TN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FP = 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FN = 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TP = 164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0" y="34747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rPr dirty="0"/>
              <a:t>Phi-3 Mini</a:t>
            </a:r>
            <a:r>
              <a:rPr lang="en-US" dirty="0"/>
              <a:t>;</a:t>
            </a:r>
            <a:r>
              <a:rPr dirty="0"/>
              <a:t> FT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0" y="393192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Refused</a:t>
                      </a: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 Answer</a:t>
                      </a: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TN = 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FP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Actual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FN =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TP = 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ALL OOB models: TN = 0 (zero correct refusals)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ALL FT models: FP = 0 (zero false positive answers on refusal queries)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FT achieves perfect refusal precision across all 5 models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Pattern: OOB models systematically fail to refuse, while FT models learn robust refusal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Published Work: IEEE SoutheastCon 2026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lang="en-US" sz="1600" b="1" dirty="0"/>
              <a:t>Castro-Puello, E., Li, W., Wang, L., Kumar, A., &amp; </a:t>
            </a:r>
            <a:r>
              <a:rPr lang="en-US" sz="1600" b="1" dirty="0" err="1"/>
              <a:t>Mulissa</a:t>
            </a:r>
            <a:r>
              <a:rPr lang="en-US" sz="1600" b="1" dirty="0"/>
              <a:t>, Y. G. (2026, February). Small Language Model Jailbreak Defender Framework. In </a:t>
            </a:r>
            <a:r>
              <a:rPr lang="en-US" sz="1600" b="1" dirty="0" err="1"/>
              <a:t>SoutheastCon</a:t>
            </a:r>
            <a:r>
              <a:rPr lang="en-US" sz="1600" b="1" dirty="0"/>
              <a:t> 2026 (pp. 1-7). IEEE.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Presented the initial framework design at IEEE SoutheastCon 2026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Introduced the SLM-based guardrail wrapper architecture for secure model-user interaction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Demonstrated preliminary results: Vanilla TinyLlama ASR 98% → Fine-tuned ASR 63% (35pp reduction)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Pipeline latency: 0.614 seconds (SLM wrapper) vs 10.86 seconds (GPT-4o baseline)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This dissertation extends the conference paper with comprehensive multi-model evaluation, mathematical formalization, and expanded attack taxonomy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Next Steps &amp; Future Work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54864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Continue Testing with Additional Models:</a:t>
            </a:r>
            <a:br>
              <a:rPr dirty="0"/>
            </a:br>
            <a:r>
              <a:rPr dirty="0"/>
              <a:t>   – Expand evaluation to </a:t>
            </a:r>
            <a:r>
              <a:rPr lang="en-US" dirty="0"/>
              <a:t>different small </a:t>
            </a:r>
            <a:r>
              <a:rPr dirty="0"/>
              <a:t>mode</a:t>
            </a:r>
            <a:r>
              <a:rPr lang="en-US" dirty="0"/>
              <a:t>ls</a:t>
            </a:r>
            <a:br>
              <a:rPr dirty="0"/>
            </a:br>
            <a:r>
              <a:rPr dirty="0"/>
              <a:t>   – Test Mistral 7B, Llama 3.2 variants, Phi-4, and other SLMs</a:t>
            </a:r>
            <a:br>
              <a:rPr dirty="0"/>
            </a:br>
            <a:r>
              <a:rPr dirty="0"/>
              <a:t>   – Cross-architecture generalizability analysis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Model Combination Technique:</a:t>
            </a:r>
            <a:br>
              <a:rPr dirty="0"/>
            </a:br>
            <a:r>
              <a:rPr dirty="0"/>
              <a:t>   – Investigate merging/combining Task SLM + Guardrail SLM into a single model</a:t>
            </a:r>
            <a:br>
              <a:rPr dirty="0"/>
            </a:br>
            <a:r>
              <a:rPr dirty="0"/>
              <a:t>   – Explore model merging (e.g., TIES, DARE, SLERP)</a:t>
            </a:r>
            <a:br>
              <a:rPr dirty="0"/>
            </a:br>
            <a:r>
              <a:rPr dirty="0"/>
              <a:t>   – Goal: maintain dual-model safety with single-model latency</a:t>
            </a:r>
            <a:br>
              <a:rPr dirty="0"/>
            </a:br>
            <a:r>
              <a:rPr dirty="0"/>
              <a:t>   – Reduce deployment complexity from two SLMs to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  <a:r>
              <a:rPr dirty="0"/>
              <a:t>Additional LLM Judges:</a:t>
            </a:r>
            <a:br>
              <a:rPr dirty="0"/>
            </a:br>
            <a:r>
              <a:rPr dirty="0"/>
              <a:t>   – Expand from 3 to 5+ judges</a:t>
            </a:r>
            <a:br>
              <a:rPr dirty="0"/>
            </a:br>
            <a:r>
              <a:rPr dirty="0"/>
              <a:t>   – Include open-source judges (Llama, </a:t>
            </a:r>
            <a:r>
              <a:rPr dirty="0" err="1"/>
              <a:t>Mixtral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Latency Optimization:</a:t>
            </a:r>
            <a:br>
              <a:rPr dirty="0"/>
            </a:br>
            <a:r>
              <a:rPr dirty="0"/>
              <a:t>   – Quantization-aware guardrail training</a:t>
            </a:r>
            <a:br>
              <a:rPr dirty="0"/>
            </a:br>
            <a:r>
              <a:rPr dirty="0"/>
              <a:t>   – Speculative decoding for wrapper inference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Formal Security Analysis:</a:t>
            </a:r>
            <a:br>
              <a:rPr dirty="0"/>
            </a:br>
            <a:r>
              <a:rPr dirty="0"/>
              <a:t>   – Adversarial robustness certificates</a:t>
            </a:r>
            <a:br>
              <a:rPr dirty="0"/>
            </a:br>
            <a:r>
              <a:rPr dirty="0"/>
              <a:t>   – Theoretical safety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Expected Contributions</a:t>
            </a:r>
          </a:p>
        </p:txBody>
      </p:sp>
      <p:pic>
        <p:nvPicPr>
          <p:cNvPr id="5" name="Picture 4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114215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Empirically grounded methodology for securing fine-tuned SLMs against jailbreak and adversarial fine-tuning attacks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Modular guardrail framework that preserves domain task accuracy while achieving near-zero Attack Success Rate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Standardized evaluation protocols for safety–utility tradeoffs in small models (9 attack types, 5+ model architectures)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Judge-in-the-loop iterative dataset refinement process with mathematical formalization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Model combination technique: merging Task SLM + Guardrail SLM into a single deployable model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Advancing alignment science under realistic enterprise deployment constraints (latency, compute, cost)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Enabling safer adoption of domain-specialized SLMs in regulated contexts (healthcare, finance, cybersecurity)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s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957972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9900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Eduardo Alberto Castro Puello</a:t>
            </a:r>
            <a:br/>
            <a:r>
              <a:t>ec1784@mynsu.nova.edu</a:t>
            </a:r>
            <a:br/>
            <a:br/>
            <a:r>
              <a:t>College of Computing, AI and Cybersecurity</a:t>
            </a:r>
            <a:br/>
            <a:r>
              <a:t>Nova Southeastern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3366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</a:defRPr>
            </a:pPr>
            <a: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[1] Castro-Puello, E., Li, W., Wang, L., Kumar, A., &amp; Mulissa, Y. G. (2026). "Small Language Model Jailbreak Defender Framework." SoutheastCon 2026, IEEE.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[2] Yi, S., et al. (2024). "Jailbreak attacks and defenses against large language models: A survey." arXiv:2407.04295.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[3] Hu, E. J., et al. (2022). "LoRA: Low-rank adaptation of large language models." ICLR.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[4] Mazeika, M., et al. (2024). "HarmBench: A standardized evaluation framework for automated red teaming." arXiv:2402.04249.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[5] Zou, A., et al. (2023). "Universal and transferable adversarial attacks on aligned language models." arXiv:2307.15043.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[6] Zhu, S., et al. (2023). "AutoDAN: Interpretable gradient-based adversarial attacks on LLMs." arXiv:2310.15140.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[7] Qi, X., et al. (2023). "Fine-tuning aligned language models compromises safety." arXiv:2310.03693.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[8] Lermen, S., et al. (2023). "LoRA fine-tuning efficiently undoes safety training in Llama 2-Chat 70B." arXiv.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[9] Dettmers, T., et al. (2023). "QLoRA: Efficient finetuning of quantized LLMs." NeurIPS.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[10] Zhang, W., et al. (2025). "Can Small Language Models Reliably Resist Jailbreak Attacks?" arXiv:2503.06519.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[11] Zeng, Y., et al. (2024). "How Johnny can persuade LLMs to jailbreak them." arXiv:2401.06373.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[12] Geisler, S., et al. (2024). "Attacking LLMs with projected gradient descent." arXiv:2402.09154.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2756</Words>
  <Application>Microsoft Office PowerPoint</Application>
  <PresentationFormat>Widescreen</PresentationFormat>
  <Paragraphs>437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Castro Puello</cp:lastModifiedBy>
  <cp:revision>1</cp:revision>
  <dcterms:created xsi:type="dcterms:W3CDTF">2013-01-27T09:14:16Z</dcterms:created>
  <dcterms:modified xsi:type="dcterms:W3CDTF">2026-05-13T00:25:37Z</dcterms:modified>
  <cp:category/>
</cp:coreProperties>
</file>